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uli" charset="1" panose="00000500000000000000"/>
      <p:regular r:id="rId21"/>
    </p:embeddedFont>
    <p:embeddedFont>
      <p:font typeface="Muli Bold" charset="1" panose="00000800000000000000"/>
      <p:regular r:id="rId22"/>
    </p:embeddedFont>
    <p:embeddedFont>
      <p:font typeface="HK Grotesk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870422" y="0"/>
            <a:ext cx="7805698" cy="4243083"/>
            <a:chOff x="0" y="0"/>
            <a:chExt cx="10407597" cy="565744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559068"/>
              <a:ext cx="10407597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Hệ thống học trực tuyến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81193"/>
              <a:ext cx="9182100" cy="9245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Tài liệu học trực tuyến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918210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87252" y="4340373"/>
            <a:ext cx="387563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D3E34"/>
                </a:solidFill>
                <a:latin typeface="Muli Bold"/>
                <a:ea typeface="Muli Bold"/>
                <a:cs typeface="Muli Bold"/>
                <a:sym typeface="Muli Bold"/>
              </a:rPr>
              <a:t>HN_KS24_CNTT5_G3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47651" y="7371363"/>
            <a:ext cx="415483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D3E34"/>
                </a:solidFill>
                <a:latin typeface="Muli Bold"/>
                <a:ea typeface="Muli Bold"/>
                <a:cs typeface="Muli Bold"/>
                <a:sym typeface="Muli Bold"/>
              </a:rPr>
              <a:t>Mentor: Hồ Xuân Hùng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3302" y="4894863"/>
            <a:ext cx="4279404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Bùi Văn Phương (leader)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Đỗ Trung Hiếu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Hồ Khánh Linh</a:t>
            </a:r>
          </a:p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Hoàng Trung Dũng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Đỗ Gia Hưng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35984" y="526559"/>
            <a:ext cx="12639675" cy="8040715"/>
            <a:chOff x="0" y="0"/>
            <a:chExt cx="16852900" cy="1072095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Tổng quan hệ thống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818378"/>
              <a:ext cx="16852900" cy="790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</a:p>
            <a:p>
              <a:pPr algn="l" marL="0" indent="0" lvl="0">
                <a:lnSpc>
                  <a:spcPts val="3900"/>
                </a:lnSpc>
              </a:pP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-Xây dựng CSDL cho hệ thống học trực tuyến để lưu trữ và quản lý dữ liệu dạy – học tập trung.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Quản lý người dùng (học viên/giảng viên/admin) và phân quyền truy cập.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Quản lý khóa học, bài học, tài liệu và nội dung học tập.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Quản lý đăng ký học, theo dõi tiến độ và kết quả/điểm số.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Đảm bảo toàn vẹn dữ liệu (PK, FK, UNIQUE, CHECK), hạn chế trùng lặp, dễ mở rộng.</a:t>
              </a:r>
            </a:p>
            <a:p>
              <a:pPr algn="l">
                <a:lnSpc>
                  <a:spcPts val="3900"/>
                </a:lnSpc>
              </a:pP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3000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Hỗ trợ truy vấn và báo cáo phục vụ vận hành hệ thống.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3346317"/>
              <a:ext cx="16852900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79"/>
                </a:lnSpc>
              </a:pPr>
              <a:r>
                <a:rPr lang="en-US" b="true" sz="3399">
                  <a:solidFill>
                    <a:srgbClr val="2D3E34"/>
                  </a:solidFill>
                  <a:latin typeface="Muli Bold"/>
                  <a:ea typeface="Muli Bold"/>
                  <a:cs typeface="Muli Bold"/>
                  <a:sym typeface="Muli Bold"/>
                </a:rPr>
                <a:t>Mục tiêu dự án : Hệ thống cơ sở dữ liệu học trực tuyến</a:t>
              </a:r>
            </a:p>
            <a:p>
              <a:pPr algn="l" marL="0" indent="0" lvl="0">
                <a:lnSpc>
                  <a:spcPts val="407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27442">
            <a:off x="14501108" y="-542231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666750"/>
            <a:ext cx="2876550" cy="2686050"/>
            <a:chOff x="0" y="0"/>
            <a:chExt cx="738346" cy="689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4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5194090"/>
            <a:ext cx="2876550" cy="2689816"/>
            <a:chOff x="0" y="0"/>
            <a:chExt cx="738346" cy="6904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8346" cy="690415"/>
            </a:xfrm>
            <a:custGeom>
              <a:avLst/>
              <a:gdLst/>
              <a:ahLst/>
              <a:cxnLst/>
              <a:rect r="r" b="b" t="t" l="l"/>
              <a:pathLst>
                <a:path h="690415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2760"/>
                  </a:lnTo>
                  <a:cubicBezTo>
                    <a:pt x="738346" y="642216"/>
                    <a:pt x="690147" y="690415"/>
                    <a:pt x="630690" y="690415"/>
                  </a:cubicBezTo>
                  <a:lnTo>
                    <a:pt x="107656" y="690415"/>
                  </a:lnTo>
                  <a:cubicBezTo>
                    <a:pt x="79104" y="690415"/>
                    <a:pt x="51721" y="679073"/>
                    <a:pt x="31532" y="658884"/>
                  </a:cubicBezTo>
                  <a:cubicBezTo>
                    <a:pt x="11342" y="638694"/>
                    <a:pt x="0" y="611312"/>
                    <a:pt x="0" y="582760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5"/>
              <a:stretch>
                <a:fillRect l="-205" t="0" r="-20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306425" y="666750"/>
            <a:ext cx="2876550" cy="2686050"/>
            <a:chOff x="0" y="0"/>
            <a:chExt cx="738346" cy="6894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8346" cy="689449"/>
            </a:xfrm>
            <a:custGeom>
              <a:avLst/>
              <a:gdLst/>
              <a:ahLst/>
              <a:cxnLst/>
              <a:rect r="r" b="b" t="t" l="l"/>
              <a:pathLst>
                <a:path h="689449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81793"/>
                  </a:lnTo>
                  <a:cubicBezTo>
                    <a:pt x="738346" y="641250"/>
                    <a:pt x="690147" y="689449"/>
                    <a:pt x="630690" y="689449"/>
                  </a:cubicBezTo>
                  <a:lnTo>
                    <a:pt x="107656" y="689449"/>
                  </a:lnTo>
                  <a:cubicBezTo>
                    <a:pt x="79104" y="689449"/>
                    <a:pt x="51721" y="678107"/>
                    <a:pt x="31532" y="657917"/>
                  </a:cubicBezTo>
                  <a:cubicBezTo>
                    <a:pt x="11342" y="637728"/>
                    <a:pt x="0" y="610345"/>
                    <a:pt x="0" y="581793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6"/>
              <a:stretch>
                <a:fillRect l="-135" t="0" r="-13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5231050" y="5143500"/>
            <a:ext cx="2876550" cy="2722157"/>
            <a:chOff x="0" y="0"/>
            <a:chExt cx="738346" cy="6987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8346" cy="698717"/>
            </a:xfrm>
            <a:custGeom>
              <a:avLst/>
              <a:gdLst/>
              <a:ahLst/>
              <a:cxnLst/>
              <a:rect r="r" b="b" t="t" l="l"/>
              <a:pathLst>
                <a:path h="698717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91061"/>
                  </a:lnTo>
                  <a:cubicBezTo>
                    <a:pt x="738346" y="619613"/>
                    <a:pt x="727004" y="646996"/>
                    <a:pt x="706814" y="667185"/>
                  </a:cubicBezTo>
                  <a:cubicBezTo>
                    <a:pt x="686625" y="687374"/>
                    <a:pt x="659242" y="698717"/>
                    <a:pt x="630690" y="698717"/>
                  </a:cubicBezTo>
                  <a:lnTo>
                    <a:pt x="107656" y="698717"/>
                  </a:lnTo>
                  <a:cubicBezTo>
                    <a:pt x="79104" y="698717"/>
                    <a:pt x="51721" y="687374"/>
                    <a:pt x="31532" y="667185"/>
                  </a:cubicBezTo>
                  <a:cubicBezTo>
                    <a:pt x="11342" y="646996"/>
                    <a:pt x="0" y="619613"/>
                    <a:pt x="0" y="591061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7"/>
              <a:stretch>
                <a:fillRect l="-203" t="0" r="-203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3363575" y="5194090"/>
            <a:ext cx="2876550" cy="2722157"/>
            <a:chOff x="0" y="0"/>
            <a:chExt cx="738346" cy="6987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8346" cy="698717"/>
            </a:xfrm>
            <a:custGeom>
              <a:avLst/>
              <a:gdLst/>
              <a:ahLst/>
              <a:cxnLst/>
              <a:rect r="r" b="b" t="t" l="l"/>
              <a:pathLst>
                <a:path h="698717" w="738346">
                  <a:moveTo>
                    <a:pt x="107656" y="0"/>
                  </a:moveTo>
                  <a:lnTo>
                    <a:pt x="630690" y="0"/>
                  </a:lnTo>
                  <a:cubicBezTo>
                    <a:pt x="659242" y="0"/>
                    <a:pt x="686625" y="11342"/>
                    <a:pt x="706814" y="31532"/>
                  </a:cubicBezTo>
                  <a:cubicBezTo>
                    <a:pt x="727004" y="51721"/>
                    <a:pt x="738346" y="79104"/>
                    <a:pt x="738346" y="107656"/>
                  </a:cubicBezTo>
                  <a:lnTo>
                    <a:pt x="738346" y="591061"/>
                  </a:lnTo>
                  <a:cubicBezTo>
                    <a:pt x="738346" y="619613"/>
                    <a:pt x="727004" y="646996"/>
                    <a:pt x="706814" y="667185"/>
                  </a:cubicBezTo>
                  <a:cubicBezTo>
                    <a:pt x="686625" y="687374"/>
                    <a:pt x="659242" y="698717"/>
                    <a:pt x="630690" y="698717"/>
                  </a:cubicBezTo>
                  <a:lnTo>
                    <a:pt x="107656" y="698717"/>
                  </a:lnTo>
                  <a:cubicBezTo>
                    <a:pt x="79104" y="698717"/>
                    <a:pt x="51721" y="687374"/>
                    <a:pt x="31532" y="667185"/>
                  </a:cubicBezTo>
                  <a:cubicBezTo>
                    <a:pt x="11342" y="646996"/>
                    <a:pt x="0" y="619613"/>
                    <a:pt x="0" y="591061"/>
                  </a:cubicBezTo>
                  <a:lnTo>
                    <a:pt x="0" y="107656"/>
                  </a:lnTo>
                  <a:cubicBezTo>
                    <a:pt x="0" y="79104"/>
                    <a:pt x="11342" y="51721"/>
                    <a:pt x="31532" y="31532"/>
                  </a:cubicBezTo>
                  <a:cubicBezTo>
                    <a:pt x="51721" y="11342"/>
                    <a:pt x="79104" y="0"/>
                    <a:pt x="107656" y="0"/>
                  </a:cubicBezTo>
                  <a:close/>
                </a:path>
              </a:pathLst>
            </a:custGeom>
            <a:blipFill>
              <a:blip r:embed="rId8"/>
              <a:stretch>
                <a:fillRect l="-8390" t="0" r="-8390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666750" y="838200"/>
            <a:ext cx="8324850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Các đối tượng chính trong hệ thống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6400" y="3632791"/>
            <a:ext cx="2876550" cy="1285074"/>
            <a:chOff x="0" y="0"/>
            <a:chExt cx="3835400" cy="1713432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0"/>
              <a:ext cx="383475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Sinh viên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766435"/>
              <a:ext cx="3835400" cy="9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Quản lý thông tin cá nhân và khóa học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06425" y="3632791"/>
            <a:ext cx="3088655" cy="1285074"/>
            <a:chOff x="0" y="0"/>
            <a:chExt cx="4118207" cy="1713432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0"/>
              <a:ext cx="411751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Giảng viên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766435"/>
              <a:ext cx="4118207" cy="946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Chịu trách nhiệm giảng dạy và hỗ trợ sinh viên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231050" y="8109541"/>
            <a:ext cx="2876550" cy="1647024"/>
            <a:chOff x="0" y="0"/>
            <a:chExt cx="3835400" cy="219603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0"/>
              <a:ext cx="383475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Khóa học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766435"/>
              <a:ext cx="3835400" cy="1429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Cung cấp nội dung và đánh giá cho sinh viên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96400" y="8109541"/>
            <a:ext cx="2876550" cy="1647024"/>
            <a:chOff x="0" y="0"/>
            <a:chExt cx="3835400" cy="2196032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0"/>
              <a:ext cx="3834751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Đăng ký học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766435"/>
              <a:ext cx="3835400" cy="1429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Quản lý quá trình đăng ký và sắp xếp lớp học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414623" y="8109541"/>
            <a:ext cx="277445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Kết quả học tập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63575" y="8752078"/>
            <a:ext cx="287655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Muli"/>
                <a:ea typeface="Muli"/>
                <a:cs typeface="Muli"/>
                <a:sym typeface="Muli"/>
              </a:rPr>
              <a:t>Quản lý kết quả học tập của sinh viên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324850" cy="5750568"/>
            <a:chOff x="0" y="0"/>
            <a:chExt cx="11099800" cy="76674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746049"/>
              <a:ext cx="11099800" cy="5921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Mỗi sinh viên cần có mã duy nhất, email không trùng và họ tên không được để trống để quản lý hiệu quả hệ thống.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Các thông tin sinh viên bao gồm: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student_id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full_name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dob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email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42875"/>
              <a:ext cx="11099800" cy="1320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200"/>
                </a:lnSpc>
              </a:pPr>
              <a:r>
                <a:rPr lang="en-US" sz="72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Thông tin Sinh viên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324850" cy="6212848"/>
            <a:chOff x="0" y="0"/>
            <a:chExt cx="11099800" cy="828379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022822"/>
              <a:ext cx="11099800" cy="526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Giảng viên có mã riêng, họ tên và email không được để trống, một giảng viên thì có thể giảng dạy nhiều khóa học khác nhau.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Các thông tin của giảng viên bao gồm: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teacher_id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full_name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email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11099800" cy="26064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400"/>
                </a:lnSpc>
              </a:pPr>
              <a:r>
                <a:rPr lang="en-US" sz="74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Mô tả chi tiết: Giảng viên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1" r="0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324850" cy="6486524"/>
            <a:chOff x="0" y="0"/>
            <a:chExt cx="11099800" cy="86486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66924"/>
              <a:ext cx="11099800" cy="6581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Mỗi khóa học trong hệ thống cần có một mã khóa học duy nhất, tên khóa học rõ ràng và một giảng viên phụ trách duy nhất.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Để quản lý hiệu quả, mỗi khóa học cần có thông tin như sau: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course_id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course_name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short_desc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session_count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teacher_id 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Mô tả Khóa học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15006" t="0" r="-15006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22803" y="1210237"/>
            <a:ext cx="8324850" cy="7477124"/>
            <a:chOff x="0" y="0"/>
            <a:chExt cx="11099800" cy="99694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66924"/>
              <a:ext cx="11099800" cy="7902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Thông tin về đăng ký bao gồm: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Sinh viên có thể đăng ký nhiều khóa học không được trùng.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Khóa học có thể được đăng ký bởi nhiều sinh viên.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Ngày đăng ký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Để giúp sinh viên đăng ký khoá học hiệu quả thì cần các thông tin bao gồm: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student_id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course_id</a:t>
              </a:r>
            </a:p>
            <a:p>
              <a:pPr algn="l" marL="1295400" indent="-431800" lvl="2">
                <a:lnSpc>
                  <a:spcPts val="39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enroll_date</a:t>
              </a:r>
            </a:p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Mô tả đăng ký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A6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15006" t="0" r="-15006" b="0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028700"/>
            <a:ext cx="8324850" cy="5124449"/>
            <a:chOff x="0" y="0"/>
            <a:chExt cx="11099800" cy="68325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52824"/>
              <a:ext cx="11099800" cy="327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Thông tin về kết quả học tập bao gồm: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Sinh viên có một kết quả của mỗi khóa học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Khoá học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Điểm giữa kỳ, cuối kỳ trong khoảng từ 0 đến 10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FFFFFF"/>
                  </a:solidFill>
                  <a:latin typeface="Muli"/>
                  <a:ea typeface="Muli"/>
                  <a:cs typeface="Muli"/>
                  <a:sym typeface="Muli"/>
                </a:rPr>
                <a:t>Mô tả kết quả học tập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63477" y="1200150"/>
            <a:ext cx="13927880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Mối quan hệ chính trong hệ thống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32716" y="10191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2D3E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532716" y="1691260"/>
            <a:ext cx="11755284" cy="4400550"/>
            <a:chOff x="0" y="0"/>
            <a:chExt cx="15673712" cy="5867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5673712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2D3E34"/>
                  </a:solidFill>
                  <a:latin typeface="Muli Bold"/>
                  <a:ea typeface="Muli Bold"/>
                  <a:cs typeface="Muli Bold"/>
                  <a:sym typeface="Muli Bold"/>
                </a:rPr>
                <a:t>Sinh viên - Đăng ký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5250"/>
              <a:ext cx="15673712" cy="450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Mỗi sinh viên có thể đăng ký nhiều khóa học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-lợi ích: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 +cho phép linh hoạt trong việc lựa chọn môn học</a:t>
              </a: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 </a:t>
              </a: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+nâng cao kỹ năng học tập của họ.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75661" y="1019175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2D3E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75661" y="1717436"/>
            <a:ext cx="11912339" cy="4400550"/>
            <a:chOff x="0" y="0"/>
            <a:chExt cx="15883119" cy="5867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5883119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2D3E34"/>
                  </a:solidFill>
                  <a:latin typeface="Muli Bold"/>
                  <a:ea typeface="Muli Bold"/>
                  <a:cs typeface="Muli Bold"/>
                  <a:sym typeface="Muli Bold"/>
                </a:rPr>
                <a:t>Khóa học - Đăng ký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5250"/>
              <a:ext cx="15883119" cy="4502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Một khóa học có nhiều sinh viên đăng ký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-lợi ích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+giúp tối ưu hóa tài nguyên giảng dạy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 + mang lại cơ hội học tập cho nhiều người.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52214" y="1538220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2D3E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952214" y="2255442"/>
            <a:ext cx="6886575" cy="4886325"/>
            <a:chOff x="0" y="0"/>
            <a:chExt cx="9182100" cy="65151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9182100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Giảng viên - Khóa học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65250"/>
              <a:ext cx="9182100" cy="514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Một giảng viên có thể dạy nhiều khóa học khác nhau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-lợi ích: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+ Mỗi khóa học được phụ trách bởi một giảng viên riêng, đảm bảo sự chuyên môn.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00513" y="1745838"/>
            <a:ext cx="11334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9"/>
              </a:lnSpc>
              <a:spcBef>
                <a:spcPct val="0"/>
              </a:spcBef>
            </a:pPr>
            <a:r>
              <a:rPr lang="en-US" b="true" sz="2999" u="none">
                <a:solidFill>
                  <a:srgbClr val="2D3E34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0513" y="2444692"/>
            <a:ext cx="6886575" cy="4876800"/>
            <a:chOff x="0" y="0"/>
            <a:chExt cx="9182100" cy="65024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9182100" cy="787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79"/>
                </a:lnSpc>
                <a:spcBef>
                  <a:spcPct val="0"/>
                </a:spcBef>
              </a:pPr>
              <a:r>
                <a:rPr lang="en-US" sz="38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Sinh viên - Kết quả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52550"/>
              <a:ext cx="9182100" cy="5149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-</a:t>
              </a: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Mỗi sinh viên có thể có nhiều kết quả học tập từ các khóa học khác nhau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lợi ích:</a:t>
              </a:r>
            </a:p>
            <a:p>
              <a:pPr algn="l" marL="0" indent="0" lvl="0">
                <a:lnSpc>
                  <a:spcPts val="3899"/>
                </a:lnSpc>
              </a:pPr>
            </a:p>
            <a:p>
              <a:pPr algn="l" marL="0" indent="0" lvl="0">
                <a:lnSpc>
                  <a:spcPts val="3899"/>
                </a:lnSpc>
              </a:pPr>
              <a:r>
                <a:rPr lang="en-US" sz="2999">
                  <a:solidFill>
                    <a:srgbClr val="2D3E34"/>
                  </a:solidFill>
                  <a:latin typeface="Muli"/>
                  <a:ea typeface="Muli"/>
                  <a:cs typeface="Muli"/>
                  <a:sym typeface="Muli"/>
                </a:rPr>
                <a:t>+Kết quả sẽ phản ánh thành tích của sinh viên trong từng khóa học tương ứng.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1020" y="2543128"/>
            <a:ext cx="15785960" cy="7743872"/>
          </a:xfrm>
          <a:custGeom>
            <a:avLst/>
            <a:gdLst/>
            <a:ahLst/>
            <a:cxnLst/>
            <a:rect r="r" b="b" t="t" l="l"/>
            <a:pathLst>
              <a:path h="7743872" w="15785960">
                <a:moveTo>
                  <a:pt x="0" y="0"/>
                </a:moveTo>
                <a:lnTo>
                  <a:pt x="15785960" y="0"/>
                </a:lnTo>
                <a:lnTo>
                  <a:pt x="15785960" y="7743872"/>
                </a:lnTo>
                <a:lnTo>
                  <a:pt x="0" y="7743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" t="0" r="-5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4540" y="622369"/>
            <a:ext cx="8095523" cy="97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7"/>
              </a:lnSpc>
              <a:spcBef>
                <a:spcPct val="0"/>
              </a:spcBef>
            </a:pPr>
            <a:r>
              <a:rPr lang="en-US" sz="6356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Sơ đồ ERD trực quan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300848">
            <a:off x="12064338" y="5278644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093109" y="2414090"/>
            <a:ext cx="12944475" cy="133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99"/>
              </a:lnSpc>
            </a:pPr>
            <a:r>
              <a:rPr lang="en-US" sz="9999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Kết thúc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79262" y="4435746"/>
            <a:ext cx="8894118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2D3E34"/>
                </a:solidFill>
                <a:latin typeface="Muli"/>
                <a:ea typeface="Muli"/>
                <a:cs typeface="Muli"/>
                <a:sym typeface="Muli"/>
              </a:rPr>
              <a:t>Cảm ơn thầy và các bạn đã lắng nghe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Bài thuyết trình - Hệ thống học trực tuyến</dc:description>
  <dc:identifier>DAG89aBqtpc</dc:identifier>
  <dcterms:modified xsi:type="dcterms:W3CDTF">2011-08-01T06:04:30Z</dcterms:modified>
  <cp:revision>1</cp:revision>
  <dc:title>Bài thuyết trình - Hệ thống học trực tuyến</dc:title>
</cp:coreProperties>
</file>